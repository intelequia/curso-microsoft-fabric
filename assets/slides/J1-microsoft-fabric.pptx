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5852160"/>
            <a:ext cx="182880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07040" y="6080760"/>
            <a:ext cx="128016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078D4"/>
                </a:solidFill>
                <a:latin typeface="Calibri"/>
              </a:rPr>
              <a:t>JORNADA 1 · 4 horas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Microsoft Fabric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3F6FB"/>
                </a:solidFill>
                <a:latin typeface="Calibri"/>
              </a:rPr>
              <a:t>De cero a un flujo end-to-end: ingesta, transformación, modelo y reporte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3F6FB"/>
                </a:solidFill>
                <a:latin typeface="Calibri"/>
              </a:rPr>
              <a:t>Curso Microsoft Fabric · Caso ficticio: Aurora Energía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Agenda · Jornada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Cómo vamos a invertir las próximas 4 horas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0972800" cy="42062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Bloque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08760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Duración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508760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83664"/>
            <a:ext cx="10972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47672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J1-M0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47672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15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947672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Bienvenida, agenda y caso Aurora Energía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04288"/>
            <a:ext cx="10972800" cy="42062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68296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J1-M1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368296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30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368296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Fundamentos: arquitectura, capacidades, OneLake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24912"/>
            <a:ext cx="10972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88920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J1-M2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788920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35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788920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Lakehouse, Warehouse y SQL Endpoint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45536"/>
            <a:ext cx="10972800" cy="42062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09544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J1-M3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209544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40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209544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Ingesta: Dataflow Gen2 y Data Pipelines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66160"/>
            <a:ext cx="10972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630168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630168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15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630168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Descanso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986784"/>
            <a:ext cx="10972800" cy="42062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50792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J1-M4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4050792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35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050792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Notebooks, Spark y procesamiento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407408"/>
            <a:ext cx="10972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71416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J1-M5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4471416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30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471416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Warehouse en profundidad y Direct Lake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828032"/>
            <a:ext cx="10972800" cy="42062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892040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J1-M6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4892040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25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4892040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Real-Time Intelligence: Eventhouse y KQL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48656"/>
            <a:ext cx="10972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312664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J1-M7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5312664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25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312664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Power BI sobre Fabric: modelo semántico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669280"/>
            <a:ext cx="10972800" cy="42062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733288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J1-M8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0" y="5733288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10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5733288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Cierre, dudas y deberes para casa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J1-M0 · Bienvenida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Caso conductor: Aurora Energía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Operador ficticio: red de estaciones de servicio, comercializadora eléctrica y división de logística.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Todos los datos, esquemas y nombres son sintéticos — sin referencias a clientes reales.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Construiremos incrementalmente el mismo entorno (workspace aurora-curso-fabric).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Metodología: explicación + demo en vivo + 2 ejercicios cortos en aula + pack de prácticas para casa.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Lo construido en clase es la base del trabajo de Jornada 2 (Purview + Fabric IQ).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320040" cy="2103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Calibri"/>
              </a:rPr>
              <a:t>J1-M1 ·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Fundamentos de Microsoft Fabric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J1-M1 ·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¿Qué es Microsoft Fabric?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Plataforma SaaS de analítica unificada (GA noviembre 2023).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Reúne ingesta, data engineering, warehouse, real-time, data science, Power BI y, desde 2024-26, Fabric Databases y Fabric IQ.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Tres pilares: OneLake · Capacidades F · Experiencias por rol.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SaaS-first: no se aprovisiona infraestructura, se crea workspace y se empieza.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Una sola capacidad de cómputo unificada para Spark, T-SQL, KQL y Power BI.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J1-M1 ·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OneLake — el OneDrive de los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Un único Data Lake lógico por tenant, multi-cloud, sobre ADLS Gen2.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Jerarquía: Tenant → Workspace → Item (Lakehouse / Warehouse / Eventhouse) → Files &amp; Tables.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Todo en formato abierto Delta-Parquet → cualquier motor que lea Delta puede leer OneLake.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Shortcuts: punteros virtuales a datos internos o externos (ADLS, S3, GCS) sin duplicar.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Mirroring: réplica casi en tiempo real de Cosmos DB, Azure SQL DB, Snowflake, Fabric SQL DB…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J1-M1 ·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Workloads / Experiencias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Data Factory → ingesta (Pipelines, Dataflow Gen2, Copy Job).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Data Engineering → Lakehouse, Notebooks, Spark Jobs, Environments.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Data Warehouse → Warehouse T-SQL nativo.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Data Science → notebooks, MLflow, modelos.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Real-Time Intelligence → Eventstream, Eventhouse (KQL DB), Activator.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Power BI → semantic models, reports, dashboards, apps.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Industry Solutions y Fabric Databases (SQL DB).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J1-M1 ·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Capacidades, licencias y 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F-SKU (F2 → F2048): unidad de cómputo, facturada por hora, pausable. F64 ≈ P1 de Power BI Premium.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Power BI Free / Pro / PPU: necesarios para consumir reportes si la capacidad es &lt; F64.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Regla de oro: para distribuir reportes a usuarios Free necesitas mínimo F64.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Trial: 60 días, equivalente a FT1 (~F64), sin tarjeta, una por usuario.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Roles del workspace: Admin · Member · Contributor · Viewer (heredados de Power BI).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06670"/>
                </a:solidFill>
                <a:latin typeface="Calibri"/>
              </a:rPr>
              <a:t>Demo: portal Fabric · OneLake Catalog · shortcuts · capacidad asignada al workspace.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64592" cy="42976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424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078D4"/>
                </a:solidFill>
                <a:latin typeface="Calibri"/>
              </a:rPr>
              <a:t>Mensaje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42416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12A55"/>
                </a:solidFill>
                <a:latin typeface="Calibri"/>
              </a:rPr>
              <a:t>“OneLake es la pieza realmente disruptiva: un único almacenamiento, una única gobernanza, una sola capacidad de cómputo.”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320040" cy="2103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Calibri"/>
              </a:rPr>
              <a:t>J1-M2 · 35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Lakehouse, Warehouse y SQL Endpoint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J1-M2 · Lakehouse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Lakehouse en 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Estructura física: zona Files (cualquier formato) + zona Tables (Delta-Parquet).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Ingesta multi-modo: portal, OneLake File Explorer, Spark, Dataflow, Pipeline, shortcut.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Cada Lakehouse trae GRATIS un SQL Analytics Endpoint (solo lectura) y un Default Semantic Model.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Encaje ideal: data lake moderno, ingesta cruda + curado, ML, Spark, datos no estructurados.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J1-M2 ·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Warehouse en 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T-SQL nativo, lectura/escritura: INSERT, UPDATE, DELETE, MERGE.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Almacena en Delta-Parquet sobre OneLake (mismo formato que el Lakehouse).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Soporta vistas, procs, funciones, transacciones cross-table, RLS, CLS, OLS, masking.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Encaje ideal: equipo SQL puro, modelo en estrella servido a Power BI, lógica con DML/transacciones.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J1-M2 · Comparativa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Lakehouse vs Warehouse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Lakehouse (+ SQL endpoint)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48640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Lenguaje principal: PySpark / Spark SQL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Escritura SQL: ❌ (endpoint solo lectura)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Datos no estructurados: ✅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DML T-SQL: ❌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Transacciones multi-tabla: limitadas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RLS / CLS / OLS: parcial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Power BI Direct Lake: 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486400" cy="50292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81328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Warehouse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920240"/>
            <a:ext cx="548640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Lenguaje principal: T-SQL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Escritura SQL: ✅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Datos no estructurados: ❌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DML T-SQL: ✅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Transacciones multi-tabla: ✅ ACID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RLS / CLS / OLS: completo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Power BI Direct Lake: 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J1-M2 ·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¿Cuándo elijo cada uno?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Lakehouse: ingesta heterogénea, ciencia de datos, no necesito DML SQL.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Warehouse: equipo SQL puro, DML/MERGE, transacciones y gobierno fino.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Patrón habitual: Lakehouse para bronze/silver + Warehouse para gold servido a Power BI.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Caso Aurora: lh_aurora (landing) + wh_aurora (modelo dimensional).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Modelo Direct Lake apuntará al Warehouse en el bloque M7.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06670"/>
                </a:solidFill>
                <a:latin typeface="Calibri"/>
              </a:rPr>
              <a:t>Demo + ejercicio (10 min): crear lh_aurora, wh_aurora, cargar clientes.csv, dim_cliente vacía.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320040" cy="2103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Calibri"/>
              </a:rPr>
              <a:t>J1-M3 · 40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Ingesta: Dataflow Gen2 y Data Pipelines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J1-M3 · Ingesta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Opciones de ingesta en 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Dataflow Gen2: ingesta + transformación con Power Query, low-code, batch (M).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Data Pipeline: orquestación, control de flujo, copia masiva, programación (UI).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Copy Job (GA reciente): copia incremental gestionada (CDC + watermark).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Eventstream: streaming continuo desde IoT Hub, Event Hubs, Kafka, sample data.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Mirroring: réplica casi en tiempo real desde Azure SQL, Cosmos, Snowflake, Fabric SQL DB.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Notebook Spark: ingesta programática (spark.read).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J1-M3 · Comparativa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Dataflow Gen2 vs Data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Dataflow Gen2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48640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Power Query Online (sin código).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Multi-destino: Lakehouse, Warehouse, KQL DB, Azure SQL.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Plantillas .pqt importables/exportables.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Fast Copy en orígenes/conectores grandes.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Refresco programable.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486400" cy="50292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81328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Data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920240"/>
            <a:ext cx="548640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Heredero de ADF v2 dentro de Fabric.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Actividades: Copy, Dataflow, Notebook, Stored Proc, Lookup, ForEach…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Eventos: éxito, fallo, omisión, completado.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Triggers: cron, file arrived, manual.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Monitoring Hub cross-workspace.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J1-M3 · Patrón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Pipeline orquesta el Dataflow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pl_aurora_ingesta → df_clientes → df_ventas → nb_silver_clean → sp_load_dim_cliente.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Rama de éxito: notificar por Office365 / Teams.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Rama de fallo: alerta al canal de soporte.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Mirroring para orígenes operacionales (sin construir ETL).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Eventstream para streaming continuo → Eventhouse / Lakehouse.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06670"/>
                </a:solidFill>
                <a:latin typeface="Calibri"/>
              </a:rPr>
              <a:t>Demo (15 min) + ejercicio (5 min): df_clientes con destino lh_aurora.clientes.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64592" cy="42976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424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078D4"/>
                </a:solidFill>
                <a:latin typeface="Calibri"/>
              </a:rPr>
              <a:t>Mensaje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42416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12A55"/>
                </a:solidFill>
                <a:latin typeface="Calibri"/>
              </a:rPr>
              <a:t>“Dataflow para transformar, Pipeline para orquestar. Si el origen es operacional, no construyas ETL: usa Mirroring.”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320040" cy="2103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Calibri"/>
              </a:rPr>
              <a:t>Descanso · 15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Estiramos las piernas y volvemos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320040" cy="2103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Calibri"/>
              </a:rPr>
              <a:t>J1-M4 · 35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Notebooks, Spark y procesamiento de datos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J1-M4 · Notebooks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Notebooks en 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Editor estilo Jupyter con celdas de código y markdown.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Lenguajes: PySpark, Spark SQL (%%sql), Scala, SparkR / sparklyr.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Conexión nativa a uno o varios Lakehouses desde el explorador lateral.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Spark gestionado: Starter Pool listo en segundos, sin provisionar cluster.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Custom pools, Environments versionables (paquetes + Spark conf), sesiones high-concurrency.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J1-M4 ·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PySpark, Spark SQL y NotebookUtils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spark.read.format("csv") · df.write.format("delta").saveAsTable(...) · df.groupBy().agg().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Celda %%sql para alumnos que vienen de SQL puro.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NotebookUtils (mssparkutils / notebookutils): OneLake, secretos, fs, jobs encadenados.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Pandas API on Spark y fabric-data-functions para lectura pandas-like.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display(df) en lugar de df.show() para visuales interactivos.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J1-M4 · Caso Aurora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Notebook nb_aurora_lab: bronze → silver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Lee clientes, productos, estaciones y ventas_raw del Lakehouse.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Limpia ventas_raw: quita importes ≤ 0, normaliza fechas, deriva año, mes, día_semana.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Join con productos para añadir categoría y unidad de medida.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Escribe ventas_silver como tabla Delta.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Buenas prácticas: Git integration, Spark Job Definition para producción, particionado Delta.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06670"/>
                </a:solidFill>
                <a:latin typeface="Calibri"/>
              </a:rPr>
              <a:t>Demo (15 min) + ejercicio para casa: ej04-notebook-bronze-silver.md.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320040" cy="2103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Calibri"/>
              </a:rPr>
              <a:t>J1-M5 ·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Warehouse en profundidad y Direct Lake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J1-M5 ·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Modelado del gold (estrella) en Aurora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Dimensiones: dim_cliente, dim_producto, dim_estacion, dim_tiempo.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Hechos: fact_ventas (venta_id, fecha, cliente_id, producto_id, estacion_id, cantidad, importe).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Carga vía CTAS, SELECT INTO, MERGE pattern y stored procedures.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Cross-database query desde Warehouse al Lakehouse (lh_aurora.dbo.clientes).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Vistas y funciones para servir KPIs estables a Power BI.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J1-M5 · Seguridad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RLS, CLS, OLS y masking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Row-Level Security: política basada en USER_NAME() o claims de Entra.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Column-Level Security: GRANT SELECT solo sobre columnas concretas.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Object-Level Security: ocultar tablas o columnas por rol.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Dynamic Data Masking para columnas sensibles (DNI, email).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En Jornada 2 lo cruzaremos con Purview labels.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J1-M5 · Direct 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El santo grial del modelo semántico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Power BI lee directamente las tablas Delta del Lakehouse / Warehouse.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Velocidad de Import + frescura de DirectQuery, sin coste de refresh.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Fallback automático a DirectQuery si la consulta excede límites.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Requiere capacidad F-SKU, columnas tipadas y modelo creado desde el item.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Direct Lake on OneLake (DLOL): modelo PBIP independiente del Lakehouse origen.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06670"/>
                </a:solidFill>
                <a:latin typeface="Calibri"/>
              </a:rPr>
              <a:t>Demo (12 min): DDL + sp_load_dim_cliente + cross-DB + nuevo modelo Direct Lake.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320040" cy="2103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Calibri"/>
              </a:rPr>
              <a:t>J1-M6 ·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Real-Time Intelligence: Eventhouse y KQL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J1-M6 · Real-Time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Mapa de la Real-Time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Eventstream: ingesta de streaming, no-code, transformaciones simples.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Eventhouse / KQL Database: motor analítico para series temporales y logs.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Activator: motor de reglas que dispara correo, Teams, Power Automate o Pipelines.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Real-Time Dashboard: dashboard tipo Grafana/Kusto Explorer integrado.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Caso Aurora: 250 estaciones × 6 surtidores, eventos cada 30 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J1-M6 ·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Eventhouse vs Lakehouse / Warehouse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Eventhouse / KQL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48640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Telemetría IoT, logs, clickstream, security events.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Query en milisegundos sobre miles de millones de eventos.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Funciones nativas de series temporales (make-series, anomalías).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486400" cy="50292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81328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Lakehouse / Warehouse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920240"/>
            <a:ext cx="548640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Histórico analítico de negocio (ventas, finanzas).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Unión a modelo dimensional.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Servir Power BI con Direct Lake.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J1-M6 · KQL en 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Sintaxis pipe-based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TelemetriaSurtidor | where Timestamp &gt; ago(24h) | summarize count() by EstacionId | top 10 by count_ desc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summarize avg(Caudal) by bin(Timestamp, 5m), EstacionId — agregaciones por ventana.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make-series + series_decompose_anomalies para detección de anomalías.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Activator: ej. "Si Temperatura &gt; 65 °C durante &gt; 3 min, avisar al jefe de estación".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06670"/>
                </a:solidFill>
                <a:latin typeface="Calibri"/>
              </a:rPr>
              <a:t>Demo (10 min): eh_aurora_telemetria + Eventstream + KQL + Real-Time Dashboard + Activator.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320040" cy="2103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Calibri"/>
              </a:rPr>
              <a:t>J1-M7 ·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Power BI sobre Fabric: modelo semántico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J1-M7 · Modelo semántico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Default vs Custom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Default semantic model del Lakehouse: tablas autodetectadas, sin relaciones definidas.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Custom semantic model: relaciones, jerarquías, medidas DAX, perspectivas, RLS.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Recomendación de producción: SIEMPRE custom semantic model.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Se crea desde el item Lakehouse / Warehouse o desde Power BI Desktop.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J1-M7 · DAX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Medidas típicas para Aurora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Importe Total = SUM(fact_ventas[importe]).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Litros Vendidos = SUM(fact_ventas[cantidad]).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Importe Año Anterior = CALCULATE([Importe Total], SAMEPERIODLASTYEAR(dim_tiempo[fecha])).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Variación % = DIVIDE([Importe Total]-[Importe Año Anterior], [Importe Año Anterior]).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Top 5 Estaciones = CALCULATE([Importe Total], TOPN(5, dim_estacion, [Importe Total])).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J1-M7 ·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Reportes, Apps, PBIP y Git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Reporte web directo en Fabric o publicación desde Power BI Desktop.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Apps para empaquetar y distribuir (lectores Free necesitan F64+).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Subscriptions, alerts, comments, Workspace OneLake hub.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Power BI Desktop guarda en formato PBIP (carpeta + JSON/TMDL/PBIR), versionable en Git.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Source control integrado en workspaces Fabric (Azure DevOps / GitHub).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06670"/>
                </a:solidFill>
                <a:latin typeface="Calibri"/>
              </a:rPr>
              <a:t>Demo (12 min): sm_aurora_ventas + reporte + App + Source control.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J1-M8 ·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Recapitulación: el flujo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CSV/Excel → Dataflow Gen2 → Lakehouse (bronze)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→ Notebook Spark → Lakehouse (silver)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→ Stored Proc Warehouse → Warehouse (gold)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→ Direct Lake → Semantic Model → Reporte Power BI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En paralelo: Event Hub → Eventstream → Eventhouse → KQL Dashboard / Activator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Deberes para casa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>
                <a:solidFill>
                  <a:srgbClr val="F3F6FB"/>
                </a:solidFill>
                <a:latin typeface="Calibri"/>
              </a:rPr>
              <a:t>•  Completar todos los ejercicios de ejercicios/jornada-1/.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F3F6FB"/>
                </a:solidFill>
                <a:latin typeface="Calibri"/>
              </a:rPr>
              <a:t>•  Workspace aurora-curso-fabric con Lakehouse, Warehouse, Notebook, Pipeline y Reporte publicado.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F3F6FB"/>
                </a:solidFill>
                <a:latin typeface="Calibri"/>
              </a:rPr>
              <a:t>•  Lectura ligera del índice de ejercicios/jornada-2/ para llegar contextualizado.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F3F6FB"/>
                </a:solidFill>
                <a:latin typeface="Calibri"/>
              </a:rPr>
              <a:t>•  Canal de soporte abierto entre jornadas.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F3F6FB"/>
                </a:solidFill>
                <a:latin typeface="Calibri"/>
              </a:rPr>
              <a:t>•  Nos vemos en la Jornada 2: Microsoft Purview + Fabric IQ.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3F6FB"/>
                </a:solidFill>
                <a:latin typeface="Calibri"/>
              </a:rPr>
              <a:t>¡Gracias!  ·  Curso Microsoft Fabric + Purview + Fabric IQ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